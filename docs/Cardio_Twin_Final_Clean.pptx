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1"/>
      <ns0:italic ns1:id="rIdFont22"/>
      <ns0:regular ns1:id="rIdFont23"/>
    </ns0:embeddedFont>
    <ns0:embeddedFont>
      <ns0:font typeface="Space Grotesk"/>
      <ns0:bold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21" Type="http://schemas.openxmlformats.org/officeDocument/2006/relationships/font" Target="fonts/5cd60018-fc68-4413-92b5-6daac7c67dbc.fntdata"/><Relationship Id="rIdFont22" Type="http://schemas.openxmlformats.org/officeDocument/2006/relationships/font" Target="fonts/24014f07-938a-4ecc-b2cf-e2b539de4a04.fntdata"/><Relationship Id="rIdFont23" Type="http://schemas.openxmlformats.org/officeDocument/2006/relationships/font" Target="fonts/e29a8a3d-c016-46e4-840d-4d63465c7552.fntdata"/><Relationship Id="rIdFont24" Type="http://schemas.openxmlformats.org/officeDocument/2006/relationships/font" Target="fonts/94f95f85-4778-436b-a5b5-1032f1add9c4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067300"/>
            <a:ext cx="10668000" cy="304800"/>
          </a:xfrm>
          <a:prstGeom prst="rect">
            <a:avLst/>
          </a:prstGeom>
          <a:noFill/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067300"/>
            <a:ext cx="10668000" cy="9525"/>
          </a:xfrm>
          <a:prstGeom prst="rect">
            <a:avLst/>
          </a:prstGeom>
          <a:solidFill>
            <a:srgbClr val="E2E8F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910804"/>
            <a:ext cx="2410420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133850"/>
            <a:ext cx="200025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14650" y="4133850"/>
            <a:ext cx="2276475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43525" y="4133850"/>
            <a:ext cx="2295525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1485900"/>
            <a:ext cx="3238500" cy="3238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43512"/>
            <a:ext cx="114300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025" y="1495425"/>
            <a:ext cx="3219450" cy="3219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500" y="5229225"/>
            <a:ext cx="7453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BE123C"/>
                </a:solidFill>
                <a:latin typeface="Plus Jakarta Sans"/>
              </a:rPr>
              <a:t>Synthetic data demonstration only. Not approved or validated for clinical diagnostics or therapy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368004"/>
            <a:ext cx="7406640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Cardio Twin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107084"/>
            <a:ext cx="7315200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64748B"/>
                </a:solidFill>
                <a:latin typeface="Plus Jakarta Sans"/>
              </a:rPr>
              <a:t>Personalized Cardiovascular Digital Twin for Proactive 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629025"/>
            <a:ext cx="7315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0284C7"/>
                </a:solidFill>
                <a:latin typeface="Plus Jakarta Sans"/>
              </a:rPr>
              <a:t>“Understand the present. Anticipate the next. Explore what could change.”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1967954"/>
            <a:ext cx="223897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DIGITAL TWIN CHALLENGE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7670" y="1967954"/>
            <a:ext cx="2178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Synthetic Research 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4257675"/>
            <a:ext cx="173736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75569"/>
                </a:solidFill>
                <a:latin typeface="Plus Jakarta Sans"/>
              </a:rPr>
              <a:t>FORECAST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4400550"/>
            <a:ext cx="17373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60 Minutes Pre-Onset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5625" y="4257675"/>
            <a:ext cx="196596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75569"/>
                </a:solidFill>
                <a:latin typeface="Plus Jakarta Sans"/>
              </a:rPr>
              <a:t>STATE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5625" y="4400550"/>
            <a:ext cx="19659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5-Minute Discrete Replay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0" y="4257675"/>
            <a:ext cx="20574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75569"/>
                </a:solidFill>
                <a:latin typeface="Plus Jakarta Sans"/>
              </a:rPr>
              <a:t>VALIDATION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500" y="4400550"/>
            <a:ext cx="2057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Held-Out Patient Partition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29075"/>
            <a:ext cx="10972800" cy="977205"/>
          </a:xfrm>
          <a:prstGeom prst="roundRect">
            <a:avLst>
              <a:gd name="adj" fmla="val 584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386012"/>
            <a:ext cx="5372100" cy="1414462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386012"/>
            <a:ext cx="5372100" cy="1414462"/>
          </a:xfrm>
          <a:prstGeom prst="roundRect">
            <a:avLst>
              <a:gd name="adj" fmla="val 808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029075"/>
            <a:ext cx="38100" cy="97720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PROBLEM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From Static Snapshots to Evolving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48400"/>
            <a:ext cx="2416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Clinical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1875" y="6248400"/>
            <a:ext cx="676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02 /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200525"/>
            <a:ext cx="11315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CORE SCIENTIFIC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381500"/>
            <a:ext cx="105727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“Does combining static EHR, dynamic wearable features, and personal-baseline features improve a simulator-defined deterioration forecast on held-out synthetic patients?”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605087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CURRENT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852737"/>
            <a:ext cx="64258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Generic Population Thresholds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167062"/>
            <a:ext cx="49911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Rigid cutoff criteria overlook individual baseline offsets, daily circadian rhythms, prior chronic histories, and recent trajectory shifts.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2605087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THE CARDIO TWIN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2852737"/>
            <a:ext cx="5743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Personalized Multimodal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3167062"/>
            <a:ext cx="49911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Dynamic continuous wearables linked with longitudinal EHR history, personalized baseline references, and calibrated warning horizons.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627512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336280"/>
            <a:ext cx="2072580" cy="1100732"/>
          </a:xfrm>
          <a:prstGeom prst="roundRect">
            <a:avLst>
              <a:gd name="adj" fmla="val 86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4580" y="3336280"/>
            <a:ext cx="2072580" cy="1100732"/>
          </a:xfrm>
          <a:prstGeom prst="roundRect">
            <a:avLst>
              <a:gd name="adj" fmla="val 86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59560" y="3336280"/>
            <a:ext cx="2072580" cy="1100732"/>
          </a:xfrm>
          <a:prstGeom prst="roundRect">
            <a:avLst>
              <a:gd name="adj" fmla="val 86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84541" y="3336280"/>
            <a:ext cx="2072580" cy="1100732"/>
          </a:xfrm>
          <a:prstGeom prst="roundRect">
            <a:avLst>
              <a:gd name="adj" fmla="val 86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521" y="3336280"/>
            <a:ext cx="2072580" cy="1100732"/>
          </a:xfrm>
          <a:prstGeom prst="roundRect">
            <a:avLst>
              <a:gd name="adj" fmla="val 86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64730"/>
            <a:ext cx="10972800" cy="857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770387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SYSTEM TOPOLOGY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More Than a Classifier: The Digital Twin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1928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Stateful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875" y="6248400"/>
            <a:ext cx="676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03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4751337"/>
            <a:ext cx="11401425" cy="15240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The deterministic replay engine strictly seals future timesteps: future events never leak to the current observation frame.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498205"/>
            <a:ext cx="22952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755380"/>
            <a:ext cx="184398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Longitudinal EHR, demographics, comorbidities.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6505" y="3498205"/>
            <a:ext cx="22952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Replay Clock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6505" y="3755380"/>
            <a:ext cx="184398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Discrete 5-min steps. Prevents data leakage.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485" y="3498205"/>
            <a:ext cx="22952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3. Current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485" y="3755380"/>
            <a:ext cx="184398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Rolling telemetry, baselines, and quality metrics.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6466" y="3498205"/>
            <a:ext cx="22952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4.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6466" y="3755380"/>
            <a:ext cx="184398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Calibrated 60-min risk + SHAP explanation.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1446" y="3498205"/>
            <a:ext cx="22952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5. Scenario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1446" y="3755380"/>
            <a:ext cx="184398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Isolated sandbox copy for counterfactual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438846"/>
            <a:ext cx="2628900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90900" y="2438846"/>
            <a:ext cx="2628900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438846"/>
            <a:ext cx="2628900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53500" y="2438846"/>
            <a:ext cx="2628900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677096"/>
            <a:ext cx="6228605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28705" y="3779192"/>
            <a:ext cx="4553694" cy="1072157"/>
          </a:xfrm>
          <a:prstGeom prst="roundRect">
            <a:avLst>
              <a:gd name="adj" fmla="val 7107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28705" y="4841825"/>
            <a:ext cx="4553694" cy="95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28705" y="3779192"/>
            <a:ext cx="4553694" cy="95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28705" y="3779192"/>
            <a:ext cx="38100" cy="107215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3779192"/>
            <a:ext cx="9525" cy="1072157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TELEMETRY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Reproducible Synthetic Data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48400"/>
            <a:ext cx="2214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Cohort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91875" y="6248400"/>
            <a:ext cx="676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04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018" y="2638871"/>
            <a:ext cx="27860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0284C7"/>
                </a:solidFill>
                <a:latin typeface="Plus Jakarta Sans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018" y="3096071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SYNTHETIC PATIENTS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2318" y="2638871"/>
            <a:ext cx="27860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0284C7"/>
                </a:solidFill>
                <a:latin typeface="Plus Jakarta Sans"/>
              </a:rPr>
              <a:t>34,560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2318" y="3096071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5-MIN 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3618" y="2638871"/>
            <a:ext cx="27860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0284C7"/>
                </a:solidFill>
                <a:latin typeface="Plus Jakarta Sans"/>
              </a:rPr>
              <a:t>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3618" y="3096071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RULE-DERIVED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4918" y="2638871"/>
            <a:ext cx="27860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0284C7"/>
                </a:solidFill>
                <a:latin typeface="Plus Jakarta Sans"/>
              </a:rPr>
              <a:t>48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4918" y="3096071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SIMULATED / PATIENT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3877121"/>
            <a:ext cx="728569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Generated Signal Modalities: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8255" y="3960167"/>
            <a:ext cx="495374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Plus Jakarta Sans"/>
              </a:rPr>
              <a:t>Explicit Simulation Assumption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8255" y="4150667"/>
            <a:ext cx="4258419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2400E"/>
                </a:solidFill>
                <a:latin typeface="Plus Jakarta Sans"/>
              </a:rPr>
              <a:t>5-minute BP is an explicit modeling setup to stress-test multimodal telemetry fusion algorithms, not a clinical capability claim for consumer watches.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4143821"/>
            <a:ext cx="359512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Continuous Heart Rate (HR)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1928" y="4143821"/>
            <a:ext cx="359531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Heart Rate Variability (HRV)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4372421"/>
            <a:ext cx="359512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Systolic / Diastolic BP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1928" y="4372421"/>
            <a:ext cx="359531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Step cadence &amp; activity sleep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625" y="4601021"/>
            <a:ext cx="359512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Sensor quality &amp; missingness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1928" y="4601021"/>
            <a:ext cx="359531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Circadian rhythm drift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10258"/>
            <a:ext cx="109728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72408"/>
            <a:ext cx="5410200" cy="809625"/>
          </a:xfrm>
          <a:prstGeom prst="roundRect">
            <a:avLst>
              <a:gd name="adj" fmla="val 941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4272408"/>
            <a:ext cx="5410200" cy="809625"/>
          </a:xfrm>
          <a:prstGeom prst="roundRect">
            <a:avLst>
              <a:gd name="adj" fmla="val 9411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510283"/>
            <a:ext cx="1057275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TARGET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A Narrow Simulator-Defined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48400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Event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1875" y="6248400"/>
            <a:ext cx="676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05 /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437" y="3767583"/>
            <a:ext cx="3571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475569"/>
                </a:solidFill>
                <a:latin typeface="Plus Jakarta Sans"/>
              </a:rPr>
              <a:t>First 12h: Median Reference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6687" y="3767583"/>
            <a:ext cx="4048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369A1"/>
                </a:solidFill>
                <a:latin typeface="Plus Jakarta Sans"/>
              </a:rPr>
              <a:t>60 Min Prior to Onset (Target =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375" y="3767583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B91C1C"/>
                </a:solidFill>
                <a:latin typeface="Plus Jakarta Sans"/>
              </a:rPr>
              <a:t>Deterioration: ≥ 20 Min Sustained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415283"/>
            <a:ext cx="6310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EVENT THRESHOLD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4596258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0F172A"/>
                </a:solidFill>
                <a:latin typeface="Plus Jakarta Sans"/>
              </a:rPr>
              <a:t>HR:</a:t>
            </a:r>
            <a:r>
              <a:rPr b="0" sz="1050" i="0" u="none">
                <a:solidFill>
                  <a:srgbClr val="0F172A"/>
                </a:solidFill>
                <a:latin typeface="Plus Jakarta Sans"/>
              </a:rPr>
              <a:t> ≥ Personal Baseline + 22 bpm</a:t>
            </a:r>
            <a:r>
              <a:t>
</a:t>
            </a:r>
            <a:r>
              <a:rPr b="0" sz="1050" i="0" u="none">
                <a:solidFill>
                  <a:srgbClr val="0F172A"/>
                </a:solidFill>
                <a:latin typeface="Plus Jakarta Sans"/>
              </a:rPr>
              <a:t> • </a:t>
            </a:r>
            <a:r>
              <a:rPr b="1" sz="1050" i="0" u="none">
                <a:solidFill>
                  <a:srgbClr val="0F172A"/>
                </a:solidFill>
                <a:latin typeface="Plus Jakarta Sans"/>
              </a:rPr>
              <a:t>Systolic BP:</a:t>
            </a:r>
            <a:r>
              <a:rPr b="0" sz="1050" i="0" u="none">
                <a:solidFill>
                  <a:srgbClr val="0F172A"/>
                </a:solidFill>
                <a:latin typeface="Plus Jakarta Sans"/>
              </a:rPr>
              <a:t> ≥ Personal Baseline + 17 mmHg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4415283"/>
            <a:ext cx="58388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LEAKAGE SAFEGUARD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175" y="4596258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2400E"/>
                </a:solidFill>
                <a:latin typeface="Plus Jakarta Sans"/>
              </a:rPr>
              <a:t>Event logs and simulator state flags are excluded from input feature layers. The target is an experimental rule, not a clinical endpoint.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29508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738883"/>
            <a:ext cx="1935509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8959" y="2738883"/>
            <a:ext cx="1935509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8319" y="2738883"/>
            <a:ext cx="1935509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87679" y="2738883"/>
            <a:ext cx="1935509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7039" y="2738883"/>
            <a:ext cx="1935509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53650" y="4181921"/>
            <a:ext cx="1190625" cy="2190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359" y="3124646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719" y="3124646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079" y="3124646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439" y="3124646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792" y="2900808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290" y="2900808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225" y="2900808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0584" y="2900808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944" y="2900808"/>
            <a:ext cx="209550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Integrated End-to-End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248400"/>
            <a:ext cx="2762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End-to-End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91875" y="6248400"/>
            <a:ext cx="676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06 /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7950" y="4220021"/>
            <a:ext cx="10572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Active Inspection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442" y="3186558"/>
            <a:ext cx="2109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Synthetic EHR +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442" y="3377058"/>
            <a:ext cx="210982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Event generator 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802" y="3186558"/>
            <a:ext cx="2109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Leakage-Safe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1802" y="3377058"/>
            <a:ext cx="210982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Rolling statistics &amp; 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162" y="3186558"/>
            <a:ext cx="2109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Calibrated GBDT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162" y="3377058"/>
            <a:ext cx="210982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Platt scaling on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0521" y="3186558"/>
            <a:ext cx="2109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FastAPI + Replay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0521" y="3377058"/>
            <a:ext cx="210982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SQLite audit log 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9881" y="3186558"/>
            <a:ext cx="2109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React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9881" y="3377058"/>
            <a:ext cx="210982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Recharts &amp; SHAP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4110483"/>
            <a:ext cx="957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SHAP TreeExplainer Runtime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4320033"/>
            <a:ext cx="9572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Extracts exact additive feature contributions on the calibrated model for each discrete forecast without degrading inference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367658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576958"/>
            <a:ext cx="541020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576958"/>
            <a:ext cx="541020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472308"/>
            <a:ext cx="541020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472308"/>
            <a:ext cx="541020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1525" y="2738883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4125" y="2738883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1525" y="3634233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34125" y="3634233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4548633"/>
            <a:ext cx="123825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MODEL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Leakage-Safe ML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4481958"/>
            <a:ext cx="107251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E123C"/>
                </a:solidFill>
                <a:latin typeface="Plus Jakarta Sans"/>
              </a:rPr>
              <a:t> Guardrails: Zero backward-filling, zero event-log features, and zero test-patient tuning during calibration.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48400"/>
            <a:ext cx="1928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Training Rigor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248400"/>
            <a:ext cx="666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07 /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005583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70 / 15 / 15 partition grouped strictly by patient 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125" y="3005583"/>
            <a:ext cx="5857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Constructed only from current and historical timesteps.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900933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Systematic evaluation against standard logistic baselines.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4125" y="3900933"/>
            <a:ext cx="5857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Platt scaling and alert threshold chosen on validation F1.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2738883"/>
            <a:ext cx="495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275" y="2753171"/>
            <a:ext cx="1631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Patient-Level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738883"/>
            <a:ext cx="495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9875" y="2753171"/>
            <a:ext cx="1940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Strict Causal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" y="3634233"/>
            <a:ext cx="495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275" y="3648521"/>
            <a:ext cx="1381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GBDT Ablations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1250" y="3634233"/>
            <a:ext cx="495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9875" y="3648521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Validation 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658171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334071"/>
          <a:ext cx="10972798" cy="2133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30364"/>
                <a:gridCol w="1400026"/>
                <a:gridCol w="1660475"/>
                <a:gridCol w="1416248"/>
                <a:gridCol w="2865685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Configuration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F1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ROC-AUC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PR-AUC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Assessment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EHR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0.000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0.521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0.036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Near chance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Wearable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0.232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0.802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0.153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Dynamic sensitivity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EHR + Wearable Fusion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0.198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0.799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0.153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Marginal interaction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Fusion + Personal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0.362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0.833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0.339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+121% PR-AUC gain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ABLATION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Personalization Adds the Clearest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4772471"/>
            <a:ext cx="10725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The core hypothesis is validated in synthetic configuration: baseline deviations drive the strongest early deterioration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48400"/>
            <a:ext cx="2155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Model Ablations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1875" y="6248400"/>
            <a:ext cx="676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700783"/>
            <a:ext cx="2072580" cy="847725"/>
          </a:xfrm>
          <a:prstGeom prst="roundRect">
            <a:avLst>
              <a:gd name="adj" fmla="val 112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580" y="2700783"/>
            <a:ext cx="2072580" cy="847725"/>
          </a:xfrm>
          <a:prstGeom prst="roundRect">
            <a:avLst>
              <a:gd name="adj" fmla="val 112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59560" y="2700783"/>
            <a:ext cx="2072580" cy="847725"/>
          </a:xfrm>
          <a:prstGeom prst="roundRect">
            <a:avLst>
              <a:gd name="adj" fmla="val 112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4541" y="2700783"/>
            <a:ext cx="2072580" cy="847725"/>
          </a:xfrm>
          <a:prstGeom prst="roundRect">
            <a:avLst>
              <a:gd name="adj" fmla="val 112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521" y="2700783"/>
            <a:ext cx="2072580" cy="847725"/>
          </a:xfrm>
          <a:prstGeom prst="roundRect">
            <a:avLst>
              <a:gd name="adj" fmla="val 112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3739008"/>
            <a:ext cx="5869185" cy="9525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31185" y="3739008"/>
            <a:ext cx="4951214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TEST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Genuine Held-Out Synthetic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48400"/>
            <a:ext cx="2559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Benchmark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875" y="6248400"/>
            <a:ext cx="676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09 /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933" y="2862708"/>
            <a:ext cx="218591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0.833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933" y="3243708"/>
            <a:ext cx="21859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ROC-AUC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7914" y="2862708"/>
            <a:ext cx="218591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0.339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7914" y="3243708"/>
            <a:ext cx="21859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PR-AUC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2894" y="2862708"/>
            <a:ext cx="218591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0.587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2894" y="3243708"/>
            <a:ext cx="21859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7875" y="2862708"/>
            <a:ext cx="218591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0.262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7875" y="3243708"/>
            <a:ext cx="21859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2855" y="2862708"/>
            <a:ext cx="218591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0.026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2855" y="3243708"/>
            <a:ext cx="21859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BRIER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575" y="3919983"/>
            <a:ext cx="688404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Event Replay Dynamics (14 Events)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160" y="3919983"/>
            <a:ext cx="537983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Noise &amp; Missingness Robustness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160" y="4148583"/>
            <a:ext cx="4684514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• ROC-AUC remains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0.822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under additive sensor noise.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• ROC-AUC remains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0.833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under simulated 15% packet dropout.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75" y="4148583"/>
            <a:ext cx="10382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575" y="4386708"/>
            <a:ext cx="103822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Detection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1755" y="4148583"/>
            <a:ext cx="10858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26.1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91755" y="4386708"/>
            <a:ext cx="10858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Mean Lead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560" y="4148583"/>
            <a:ext cx="1143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560" y="4386708"/>
            <a:ext cx="1143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False Alerts / 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457896"/>
            <a:ext cx="4892426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372296"/>
            <a:ext cx="4892426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286696"/>
            <a:ext cx="4892426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526" y="2172146"/>
            <a:ext cx="5889873" cy="304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051" y="2181671"/>
            <a:ext cx="5870823" cy="3028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INTERACTIVE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Dashboard: Real-Time API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48400"/>
            <a:ext cx="2226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Clinician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0450" y="6248400"/>
            <a:ext cx="6477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10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600771"/>
            <a:ext cx="57583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Active Research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810321"/>
            <a:ext cx="470192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Live updates directly over asynchronous FastAPI backends with zero faked calls.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515171"/>
            <a:ext cx="57583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Live Telemetry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3724721"/>
            <a:ext cx="470192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Multi-channel vital trajectories, calibrated 60-min risk, and +5-min step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4429571"/>
            <a:ext cx="57583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SHAP Local Explanations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4639121"/>
            <a:ext cx="57583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Real-time feature attributions identifying physiological drivers of risk shift.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753171"/>
            <a:ext cx="17335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57450" y="2753171"/>
            <a:ext cx="17335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5300" y="2753171"/>
            <a:ext cx="17335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53150" y="2753171"/>
            <a:ext cx="17335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2753171"/>
            <a:ext cx="17335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48850" y="2753171"/>
            <a:ext cx="17335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3705671"/>
            <a:ext cx="5410200" cy="933450"/>
          </a:xfrm>
          <a:prstGeom prst="roundRect">
            <a:avLst>
              <a:gd name="adj" fmla="val 816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5671"/>
            <a:ext cx="5410200" cy="933450"/>
          </a:xfrm>
          <a:prstGeom prst="roundRect">
            <a:avLst>
              <a:gd name="adj" fmla="val 8163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BRANCHING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What-If Simulation Without Mutating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2369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Sandbox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68075" y="6248400"/>
            <a:ext cx="6000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11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5" y="2896046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284C7"/>
                </a:solidFill>
                <a:latin typeface="Plus Jakarta Sans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3057971"/>
            <a:ext cx="190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Copy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" y="3248471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Deep-copy current twin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1725" y="2896046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284C7"/>
                </a:solidFill>
                <a:latin typeface="Plus Jakarta Sans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1725" y="3057971"/>
            <a:ext cx="190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Declare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725" y="3248471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Hypothetical premise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9575" y="2896046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284C7"/>
                </a:solidFill>
                <a:latin typeface="Plus Jakarta Sans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9575" y="3057971"/>
            <a:ext cx="190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Recompute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9575" y="3248471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Recalculate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7425" y="2896046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284C7"/>
                </a:solidFill>
                <a:latin typeface="Plus Jakarta Sans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7425" y="3057971"/>
            <a:ext cx="190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7425" y="3248471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Same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5275" y="2896046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284C7"/>
                </a:solidFill>
                <a:latin typeface="Plus Jakarta Sans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5275" y="3057971"/>
            <a:ext cx="190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Compare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5275" y="3248471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Base vs. hypothesis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3125" y="2896046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284C7"/>
                </a:solidFill>
                <a:latin typeface="Plus Jakarta Sans"/>
              </a:rPr>
              <a:t>STEP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3125" y="3057971"/>
            <a:ext cx="190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Audit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3125" y="3248471"/>
            <a:ext cx="19050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Preserve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575" y="3848546"/>
            <a:ext cx="6310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Included Scenario Presets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575" y="4039046"/>
            <a:ext cx="5143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Return toward Baseline: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Immediate rest / restorative physiological drift.</a:t>
            </a:r>
            <a:r>
              <a:t>
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Increased Activity: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Elevated exertion and sympathetic load.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3175" y="3848546"/>
            <a:ext cx="5838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Plus Jakarta Sans"/>
              </a:rPr>
              <a:t>Causal Disclaimers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3175" y="4039046"/>
            <a:ext cx="5143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2400E"/>
                </a:solidFill>
                <a:latin typeface="Plus Jakarta Sans"/>
              </a:rPr>
              <a:t>The outcome represents a machine learning response sensitivity, not a causal treatment-effect estimate. It does not recommend medication or therapy adjustments.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329558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615058"/>
            <a:ext cx="5410200" cy="6286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615058"/>
            <a:ext cx="5410200" cy="6286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396108"/>
            <a:ext cx="541020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396108"/>
            <a:ext cx="541020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15058"/>
            <a:ext cx="38100" cy="6286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2615058"/>
            <a:ext cx="38100" cy="6286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396108"/>
            <a:ext cx="38100" cy="781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396108"/>
            <a:ext cx="38100" cy="781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4510533"/>
            <a:ext cx="123825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SAFETY &amp;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Responsible-Use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4443858"/>
            <a:ext cx="107251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E123C"/>
                </a:solidFill>
                <a:latin typeface="Plus Jakarta Sans"/>
              </a:rPr>
              <a:t> Prospective validity, clinical safety, workflow impact, demographic fairness, and regulatory compliance remain untested.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4840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Cardio Twin •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0" y="6248400"/>
            <a:ext cx="628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12 /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2748408"/>
            <a:ext cx="628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Synthetic Cohort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2957958"/>
            <a:ext cx="6286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Evaluated purely on synthetic patients and generative models. Zero live clinical trials.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2748408"/>
            <a:ext cx="581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Simulator-Defined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0" y="2957958"/>
            <a:ext cx="5810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Forecasts simulator mathematical rules, not real-world cardiac arrests or diagnoses.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3529458"/>
            <a:ext cx="628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Prototype Risk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3739008"/>
            <a:ext cx="6286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Presentation labels only. Must never be used as clinical triage instructions.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0" y="3529458"/>
            <a:ext cx="581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SHAP Explanations ≠ Causality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750" y="3739008"/>
            <a:ext cx="5124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Statistical feature importance reflects model weights, not biological causal mechanisms.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54064"/>
            <a:ext cx="10668000" cy="800100"/>
          </a:xfrm>
          <a:prstGeom prst="roundRect">
            <a:avLst>
              <a:gd name="adj" fmla="val 14285"/>
            </a:avLst>
          </a:prstGeom>
          <a:solidFill>
            <a:srgbClr val="F0F9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811464"/>
            <a:ext cx="10668000" cy="285750"/>
          </a:xfrm>
          <a:prstGeom prst="rect">
            <a:avLst/>
          </a:prstGeom>
          <a:noFill/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39350" y="1760636"/>
            <a:ext cx="1390650" cy="257175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3782764"/>
            <a:ext cx="345430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68700" y="3782764"/>
            <a:ext cx="3454449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75550" y="3782764"/>
            <a:ext cx="345430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4811464"/>
            <a:ext cx="10668000" cy="9525"/>
          </a:xfrm>
          <a:prstGeom prst="rect">
            <a:avLst/>
          </a:prstGeom>
          <a:solidFill>
            <a:srgbClr val="E2E8F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648" y="3225551"/>
            <a:ext cx="104775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770" y="3225551"/>
            <a:ext cx="104775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717" y="3225551"/>
            <a:ext cx="104775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189" y="3225551"/>
            <a:ext cx="104775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860" y="3225551"/>
            <a:ext cx="104775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72700" y="1817786"/>
            <a:ext cx="1219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Challenge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2954089"/>
            <a:ext cx="1001268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CLOSED TECHNICAL DEMONSTRATION LOOP: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954339"/>
            <a:ext cx="27979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Cardio Twin • Digital Twin Challenge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954339"/>
            <a:ext cx="301752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Synthetic Research Prototype • Not Clinically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760636"/>
            <a:ext cx="8239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CONCLUSION &amp;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989236"/>
            <a:ext cx="8651081" cy="4600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b="1" sz="3150" i="0" u="none">
                <a:solidFill>
                  <a:srgbClr val="0F172A"/>
                </a:solidFill>
                <a:latin typeface="Space Grotesk"/>
              </a:rPr>
              <a:t>Scale Carefully. Validate Honestly.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211264"/>
            <a:ext cx="118872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Synthetic Patient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1546" y="3211264"/>
            <a:ext cx="1143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Evolving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668" y="3211264"/>
            <a:ext cx="123444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Calibrated GBDT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9615" y="3211264"/>
            <a:ext cx="123444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60-Min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0087" y="3211264"/>
            <a:ext cx="132588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SHAP Attributions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6759" y="3211264"/>
            <a:ext cx="1143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What-If Sandbox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" y="3925639"/>
            <a:ext cx="30632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1.0M Observations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" y="4116139"/>
            <a:ext cx="3263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Scale to 500 patients × 7 days across multiple random seeds.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1575" y="3925639"/>
            <a:ext cx="30632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Stress-Testing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1575" y="4116139"/>
            <a:ext cx="32639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Probe edge cases with missingness, sensor dropouts, and baseline drift.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8425" y="3925639"/>
            <a:ext cx="30632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Clinical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8425" y="4116139"/>
            <a:ext cx="3263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Formal bioethics and clinician oversight before real-world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